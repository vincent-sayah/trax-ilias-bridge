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6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60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l’adaptateur comme une passerelle légère, pas comme un nouveau système lourd.
Insister sur le bénéfice : rendre ILIAS et Trax compatibles sans modifier profondément les deux outils.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xAPI comme une phrase standardisée : qui a fait quoi, sur quelle activité, avec quel résultat.
L’adaptateur intervient lorsque la forme d’une demande ILIAS ne colle pas parfaitement à ce que Trax attend.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diapo est le résumé pour public non technique.
Les trois points sont les raisons principales de la version 2.0.5.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la différence entre proxy léger et middleware complexe.
Le point important : l’adaptateur a un périmètre volontairement limité.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séparation entre le vhost public et le vhost interne.
L’URL interne évite que l’adaptateur repasse sur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AliasMatch comme un aiguillage Apache.
L’expression régulière sert à reconnaître les URL à intercepter.
Le fichier aggregate.php est le point d’entrée commun de l’adaptateur.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quatre règles sans entrer dans tous les détails.
Le public doit retenir : quatre portes d’entrée, un seul script d’adaptation.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ligne demandée par l’utilisateur.
Souligner que [^/]+ ne capture pas le slash : c’est un segment propre de l’URL.
Le cas stores/api est exactement celui où ILIAS a perdu le nom du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diapo est l’exemple de cheminement technique clair.
Faire le lien avec le diagramme fonctionnel du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Éviter de dire que toutes les traces passent par l’adaptateur.
Pour une écriture standard xAPI, Trax reste le récepteur naturel.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la chaîne en deux temps : d’abord l’écriture xAPI directe dans Trax, puis la lecture Ranking qui passe par Apache AliasMatch et l’adaptateur.
Insister : l’adaptateur ne stocke pas les résultats ; il corrige et reformate les requêtes et réponses ciblées.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correction du store comme le cœur du problème Ranking.
La version 2.0.5 corrige aussi le cas du score numérique produit par $max.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Répondre à la question des autres sources : l’adaptateur n’est pas un outil d’isolation métier automatique.
La bonne isolation se fait par store, client, activité ou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les bénéfices : fiabilité, compatibilité, maintenance limitée.
Ne pas oublier de rappeler que la séparation des stores reste la bonne pratique si plusieurs sources xAPI existent.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2926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Trax ILIAS Bridge 2.0.5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ADAPTATEUR TRAX / ILIAS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182788"/>
            <a:ext cx="80467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Une passerelle discrète pour fiabiliser les échanges xAPI / cmi5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13232" y="2743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8FF"/>
                </a:solidFill>
              </a:rPr>
              <a:t>Présentation fonctionnelle - version 2.0.5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2148840" cy="804672"/>
          </a:xfrm>
          <a:prstGeom prst="rect">
            <a:avLst/>
          </a:prstGeom>
          <a:solidFill>
            <a:srgbClr val="E0F2FE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ILIAS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LMS / cmi5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749040" y="3977640"/>
            <a:ext cx="2423160" cy="804672"/>
          </a:xfrm>
          <a:prstGeom prst="rect">
            <a:avLst/>
          </a:prstGeom>
          <a:solidFill>
            <a:srgbClr val="DBEAFE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Adaptateur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corrige, route, traduit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59168" y="3977640"/>
            <a:ext cx="2148840" cy="804672"/>
          </a:xfrm>
          <a:prstGeom prst="rect">
            <a:avLst/>
          </a:prstGeom>
          <a:solidFill>
            <a:srgbClr val="DCFCE7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Trax LRS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stocke les traces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017520" y="4379976"/>
            <a:ext cx="640080" cy="0"/>
          </a:xfrm>
          <a:prstGeom prst="line">
            <a:avLst/>
          </a:prstGeom>
          <a:noFill/>
          <a:ln w="3048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45352" y="4379976"/>
            <a:ext cx="731520" cy="0"/>
          </a:xfrm>
          <a:prstGeom prst="line">
            <a:avLst/>
          </a:prstGeom>
          <a:noFill/>
          <a:ln w="3048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POURQUOI UN ADAPTATEUR 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Le contexte : deux systèmes qui doivent se comprendre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301752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ILIAS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LMS côté apprenant. Lance les contenus cmi5 et affiche progression, ranking et résultats.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0" y="1417320"/>
            <a:ext cx="301752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xAPI / cmi5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Langage commun des traces d’apprentissage : activité, score, durée, réussite, progression.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58200" y="1417320"/>
            <a:ext cx="301752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Trax LRS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Référentiel qui reçoit, sécurise et conserve les statements xAPI.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13048" y="2331720"/>
            <a:ext cx="630936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54112" y="2331720"/>
            <a:ext cx="585216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04672" y="3840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</a:rPr>
              <a:t>Dans l’idéal, ILIAS écrit et lit les traces directement dans Trax.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4434840"/>
            <a:ext cx="932688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334155"/>
                </a:solidFill>
              </a:rPr>
              <a:t>En pratique, certaines requêtes générées par ILIAS ne correspondent pas exactement aux routes attendues côté Trax.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88920" y="5559552"/>
            <a:ext cx="2011680" cy="292608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Sans adapter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5605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erreurs, résultats absents, ranking vide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0" y="653796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xAPI = format des traces ; cmi5 = lancement suivi des contenus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EN UNE PHRASE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Ce que résout l’adaptateur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334155"/>
                </a:solidFill>
              </a:rPr>
              <a:t>Il ne remplace ni ILIAS ni Trax : il corrige quelques échanges ciblés pour que les données circulent correctement.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" y="1993392"/>
            <a:ext cx="3337560" cy="2148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1. URL aggregate incomplète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ILIAS peut appeler /stores/api/... sans indiquer le nom du store. L’adaptateur retrouve le bon store.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25696" y="1993392"/>
            <a:ext cx="3337560" cy="2148840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2. Paramètre cmi5 non attendu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Certaines requêtes contiennent activity_id. L’adaptateur le retire avant transmission.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38160" y="1993392"/>
            <a:ext cx="3337560" cy="21488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3. Ranking ILIAS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Il reformate les agrégations pour renvoyer compte, score, date et durée.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47091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</a:rPr>
              <a:t>Résultat : l’expérience utilisateur dans ILIAS reste fluide, et Trax conserve son rôle de LRS.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PRINCIPE DE FONCTIONNEMENT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Son rôle exact : 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13232" y="1143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4155"/>
                </a:solidFill>
              </a:rPr>
              <a:t>L’adaptateur agit comme un agent de circulation : il ne crée pas les traces, il oriente et ajuste certaines requêtes.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</a:rPr>
              <a:t>Ce qu’il fait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78408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441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reconnaît les URLs concernées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990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corrige le store manquant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538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nettoie les paramètres incompatibles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8408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4087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renvoie un format lisible par ILIAS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</a:rPr>
              <a:t>Ce qu’il ne fait pas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10528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2441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il ne remplace pas Trax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0528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2990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il ne modifie pas ILIAS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0528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35387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il ne réécrit pas toutes les traces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0528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4087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3"/>
                </a:solidFill>
              </a:rPr>
              <a:t>il ne filtre pas automatiquement “ILIAS seulement”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5138928"/>
            <a:ext cx="507492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Idée clé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Un composant léger, placé devant Trax, qui corrige uniquement les cas nécessaires.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VUE SIMPLIFIÉE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Où se place l’adaptateur dans l’architecture 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606040" y="2816352"/>
            <a:ext cx="1097280" cy="0"/>
          </a:xfrm>
          <a:prstGeom prst="line">
            <a:avLst/>
          </a:prstGeom>
          <a:noFill/>
          <a:ln w="3048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98464" y="2816352"/>
            <a:ext cx="996696" cy="0"/>
          </a:xfrm>
          <a:prstGeom prst="line">
            <a:avLst/>
          </a:prstGeom>
          <a:noFill/>
          <a:ln w="3048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52560" y="2816352"/>
            <a:ext cx="1005840" cy="0"/>
          </a:xfrm>
          <a:prstGeom prst="line">
            <a:avLst/>
          </a:prstGeom>
          <a:noFill/>
          <a:ln w="304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94360" y="2221992"/>
            <a:ext cx="1965960" cy="1188720"/>
          </a:xfrm>
          <a:prstGeom prst="rect">
            <a:avLst/>
          </a:prstGeom>
          <a:solidFill>
            <a:srgbClr val="E0F2FE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ILIAS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cours, cmi5, ranking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730752" y="2057400"/>
            <a:ext cx="2212848" cy="1508760"/>
          </a:xfrm>
          <a:prstGeom prst="rect">
            <a:avLst/>
          </a:prstGeom>
          <a:solidFill>
            <a:srgbClr val="F1F5F9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Apache public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reçoit les URL /trax/api/...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40880" y="1947672"/>
            <a:ext cx="1965960" cy="1737360"/>
          </a:xfrm>
          <a:prstGeom prst="rect">
            <a:avLst/>
          </a:prstGeom>
          <a:solidFill>
            <a:srgbClr val="DBEAFE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Adaptateur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aggregate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token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state API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104120" y="2221992"/>
            <a:ext cx="1600200" cy="1188720"/>
          </a:xfrm>
          <a:prstGeom prst="rect">
            <a:avLst/>
          </a:prstGeom>
          <a:solidFill>
            <a:srgbClr val="DCFCE7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Trax LRS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stockage xAPI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4343400"/>
            <a:ext cx="9418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4155"/>
                </a:solidFill>
              </a:rPr>
              <a:t>Les routes ciblées sont captées par des règles Apache AliasMatch, puis transmises à Trax via une URL interne.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5166360"/>
            <a:ext cx="8138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Exemple</a:t>
            </a:r>
            <a:endParaRPr lang="en-US" sz="15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Requête publique : https://trax.example.org/trax/api/...  →  URL interne : http://127.0.0.1:8080/trax/api/...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DIRECTIVE ALIASMATCH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Zoom technique : comment Apache détecte les appels à adapter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152144"/>
            <a:ext cx="10652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334155"/>
                </a:solidFill>
              </a:rPr>
              <a:t>AliasMatch compare l’URL demandée avec une expression régulière. Si elle correspond, Apache exécute le fichier PHP de l’adaptateur au lieu de laisser Trax traiter directement la route.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1719072" y="2816352"/>
            <a:ext cx="1389888" cy="0"/>
          </a:xfrm>
          <a:prstGeom prst="line">
            <a:avLst/>
          </a:prstGeom>
          <a:noFill/>
          <a:ln w="279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212080" y="2816352"/>
            <a:ext cx="1353312" cy="0"/>
          </a:xfrm>
          <a:prstGeom prst="line">
            <a:avLst/>
          </a:prstGeom>
          <a:noFill/>
          <a:ln w="279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49640" y="2816352"/>
            <a:ext cx="13716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810512" cy="1097280"/>
          </a:xfrm>
          <a:prstGeom prst="rect">
            <a:avLst/>
          </a:prstGeom>
          <a:solidFill>
            <a:srgbClr val="E0F2FE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1. URL reçue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/trax/api/...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246120" y="2148840"/>
            <a:ext cx="1874520" cy="1325880"/>
          </a:xfrm>
          <a:prstGeom prst="rect">
            <a:avLst/>
          </a:prstGeom>
          <a:solidFill>
            <a:srgbClr val="F1F5F9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2. Test regex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AliasMatch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1847088" cy="1325880"/>
          </a:xfrm>
          <a:prstGeom prst="rect">
            <a:avLst/>
          </a:prstGeom>
          <a:solidFill>
            <a:srgbClr val="DBEAFE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3. Adaptateur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aggregate.php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12680" y="2267712"/>
            <a:ext cx="1783080" cy="1097280"/>
          </a:xfrm>
          <a:prstGeom prst="rect">
            <a:avLst/>
          </a:prstGeom>
          <a:solidFill>
            <a:srgbClr val="DCFCE7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4. Trax interne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127.0.0.1:8080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33832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3"/>
                </a:solidFill>
              </a:rPr>
              <a:t>À quoi sert le “match” ?</a:t>
            </a:r>
            <a:endParaRPr lang="en-US" sz="1650" dirty="0"/>
          </a:p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</a:rPr>
              <a:t>Reconnaître seulement les routes problématiques ou spéciales.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26280" y="4343400"/>
            <a:ext cx="338328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3"/>
                </a:solidFill>
              </a:rPr>
              <a:t>Pourquoi un fichier unique ?</a:t>
            </a:r>
            <a:endParaRPr lang="en-US" sz="1650" dirty="0"/>
          </a:p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</a:rPr>
              <a:t>Toutes les routes ciblées arrivent dans aggregate.php, qui décide quoi faire.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38160" y="4343400"/>
            <a:ext cx="33832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3"/>
                </a:solidFill>
              </a:rPr>
              <a:t>Pourquoi une URL interne ?</a:t>
            </a:r>
            <a:endParaRPr lang="en-US" sz="1650" dirty="0"/>
          </a:p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</a:rPr>
              <a:t>Éviter les boucles et appeler Trax sans repasser par les AliasMatch.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012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1F33"/>
                </a:solidFill>
              </a:rPr>
              <a:t>AliasMatch agit avant l’application : c’est Apache qui décide de remettre la requête à l’adaptateur.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CONFIGURATION APACHE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Les 4 règles AliasMatch de l’adaptateur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Ces quatre lignes indiquent à Apache quelles URL doivent passer par l’adaptateur.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755648"/>
            <a:ext cx="10927080" cy="493776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  AliasMatch "^/trax/api/gateway/clients/[^/]+/stores/api/statements/aggregate$" "/var/www/trax-ilias-aggregate-adapter/aggregate.php"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2626"/>
                </a:solidFill>
              </a:rPr>
              <a:t>Aggregate ILIAS sans nom de store : /stores/api/...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10927080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  AliasMatch "^/trax/api/gateway/clients/[^/]+/stores/[^/]+/api/statements/aggregate$" "/var/www/trax-ilias-aggregate-adapter/aggregate.php"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14400" y="320954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4ED8"/>
                </a:solidFill>
              </a:rPr>
              <a:t>Aggregate avec nom de store : /stores/{store}/api/...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3639312"/>
            <a:ext cx="10927080" cy="493776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  AliasMatch "^/trax/api/gateway/clients/[^/]+/stores/[^/]+/cmi5/tokens$" "/var/www/trax-ilias-aggregate-adapter/aggregate.php"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914400" y="4151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97316"/>
                </a:solidFill>
              </a:rPr>
              <a:t>Pré-lancement cmi5 : nettoyage du paramètre activity_id.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4581144"/>
            <a:ext cx="1092708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  AliasMatch "^/trax/api/gateway/clients/[^/]+/stores/[^/]+/xapi/activities/state$" "/var/www/trax-ilias-aggregate-adapter/aggregate.php"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14400" y="509320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A34A"/>
                </a:solidFill>
              </a:rPr>
              <a:t>State API xAPI : LMS.LaunchData, quizProgress, état de progression.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5650992"/>
            <a:ext cx="10012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Point commun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Chaque règle redirige vers le même fichier : aggregate.php. La différence se fait ensuite dans le code selon l’URL originale.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LECTURE LIGNE PAR LIGNE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Exemple détaillé : la règle “aggregate sans store”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261872"/>
            <a:ext cx="1092708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AliasMatch "^/trax/api/gateway/clients/[^/]+/stores/api/statements/aggregate$" "/var/www/trax-ilias-aggregate-adapter/aggregate.php"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685800" y="2221992"/>
            <a:ext cx="2240280" cy="969264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AliasMatch</a:t>
            </a:r>
            <a:endParaRPr lang="en-US" sz="155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Directive Apache : si le chemin correspond, utiliser une cible locale.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063240" y="2221992"/>
            <a:ext cx="22402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^ et $</a:t>
            </a:r>
            <a:endParaRPr lang="en-US" sz="155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Début et fin du chemin : on évite les correspondances partielles.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40680" y="2221992"/>
            <a:ext cx="2240280" cy="969264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[^/]+</a:t>
            </a:r>
            <a:endParaRPr lang="en-US" sz="155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Un segment variable : ici le nom du client, par exemple ppm.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18120" y="2221992"/>
            <a:ext cx="3611880" cy="969264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/stores/api/...</a:t>
            </a:r>
            <a:endParaRPr lang="en-US" sz="1550" dirty="0"/>
          </a:p>
          <a:p>
            <a:pPr marL="0" indent="0">
              <a:buNone/>
            </a:pPr>
            <a:r>
              <a:rPr lang="en-US" sz="1280" dirty="0">
                <a:solidFill>
                  <a:srgbClr val="334155"/>
                </a:solidFill>
              </a:rPr>
              <a:t>Cas particulier ILIAS : le store est manquant entre stores et api.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6941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Chemin demandé par ILIAS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4892040" cy="512064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/trax/api/gateway/clients/ppm/stores/api/statements/aggregate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15584" y="4233672"/>
            <a:ext cx="694944" cy="0"/>
          </a:xfrm>
          <a:prstGeom prst="line">
            <a:avLst/>
          </a:prstGeom>
          <a:noFill/>
          <a:ln w="279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656832" y="36941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Fichier exécuté par Apache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56832" y="3977640"/>
            <a:ext cx="4617720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/var/www/trax-ilias-aggregate-adapter/aggregate.php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33272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Ce que fait ensuite l’adaptateur</a:t>
            </a:r>
            <a:endParaRPr lang="en-US" sz="155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Il lit client = ppm, applique client_store_map["ppm"] = "ppm", puis appelle Trax en interne avec /stores/ppm/api/statements/aggregate.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DU NAVIGATEUR ILIAS À TRAX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Acheminement concret avec AliasMatch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584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298448"/>
            <a:ext cx="10287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ILIAS appelle l’URL publique</a:t>
            </a:r>
            <a:endParaRPr lang="en-US" sz="155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GET https://trax.example.org/trax/api/gateway/clients/ppm/stores/api/statements/aggregate?pipeline=...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325880" y="2084832"/>
            <a:ext cx="0" cy="402336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260604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471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487168"/>
            <a:ext cx="10287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Apache applique AliasMatch</a:t>
            </a:r>
            <a:endParaRPr lang="en-US" sz="155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La regex reconnaît /clients/ppm/stores/api/statements/aggregate et envoie vers aggregate.php.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325880" y="3273552"/>
            <a:ext cx="0" cy="402336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379476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359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675888"/>
            <a:ext cx="1028700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L’adaptateur corrige le chemin</a:t>
            </a:r>
            <a:endParaRPr lang="en-US" sz="155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Il remplace le store absent par le store configuré : client ppm → store ppm.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25880" y="4462272"/>
            <a:ext cx="0" cy="402336"/>
          </a:xfrm>
          <a:prstGeom prst="line">
            <a:avLst/>
          </a:prstGeom>
          <a:noFill/>
          <a:ln w="2286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" y="498348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0246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864608"/>
            <a:ext cx="1028700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Appel Trax interne</a:t>
            </a:r>
            <a:endParaRPr lang="en-US" sz="155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GET http://127.0.0.1:8080/trax/api/gateway/clients/ppm/stores/ppm/api/statements/aggregate?pipeline=...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17320" y="58795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B1F33"/>
                </a:solidFill>
              </a:rPr>
              <a:t>Le retour suit le chemin inverse : Trax → adaptateur → Apache → ILIAS.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PÉRIMÈTRE TECHNIQUE RENDU LISIBLE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Les trois familles de requêtes traitées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3246120" cy="3063240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A. Lancement cmi5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/cmi5/tokens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Nettoie le paramètre activity_id lorsque nécessaire, puis transmet à Trax.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80560" y="1554480"/>
            <a:ext cx="3246120" cy="30632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B. State API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/xapi/activities/state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Laisse passer activityId, agent, stateId, registration. Retire seulement activity_id.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75320" y="1554480"/>
            <a:ext cx="3246120" cy="30632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C. Agrégations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/api/statements/aggregate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Retrouve le store, applique le pipeline, prépare les résultats pour ILIAS.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5230368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</a:rPr>
              <a:t>Toutes les autres écritures xAPI standards restent traitées directement par Trax.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CHEMINEMENT COMPLET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Exemple : du résultat d’un apprenant au Ranking ILIAS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0232" cy="1554480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749040"/>
            <a:ext cx="11000232" cy="18653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133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A. Écriture de la trace xAPI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3438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B. Lecture / agrégation pour le Ranking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27248" y="2167128"/>
            <a:ext cx="548640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53328" y="2167128"/>
            <a:ext cx="548640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4645152"/>
            <a:ext cx="292608" cy="0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4645152"/>
            <a:ext cx="292608" cy="0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4645152"/>
            <a:ext cx="292608" cy="0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960" y="4645152"/>
            <a:ext cx="292608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09760" y="4645152"/>
            <a:ext cx="292608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1700784"/>
            <a:ext cx="235000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1  L’apprenant termine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score 92 %, durée 45 s</a:t>
            </a:r>
            <a:endParaRPr lang="en-US" sz="1390" dirty="0"/>
          </a:p>
        </p:txBody>
      </p:sp>
      <p:sp>
        <p:nvSpPr>
          <p:cNvPr id="16" name="Text 14"/>
          <p:cNvSpPr/>
          <p:nvPr/>
        </p:nvSpPr>
        <p:spPr>
          <a:xfrm>
            <a:off x="3703320" y="1700784"/>
            <a:ext cx="2350008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2  ILIAS / contenu cmi5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prépare un statement xAPI</a:t>
            </a:r>
            <a:endParaRPr lang="en-US" sz="1390" dirty="0"/>
          </a:p>
        </p:txBody>
      </p:sp>
      <p:sp>
        <p:nvSpPr>
          <p:cNvPr id="17" name="Text 15"/>
          <p:cNvSpPr/>
          <p:nvPr/>
        </p:nvSpPr>
        <p:spPr>
          <a:xfrm>
            <a:off x="6629400" y="1700784"/>
            <a:ext cx="2350008" cy="9326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3  Trax LRS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stocke la trace xAPI</a:t>
            </a:r>
            <a:endParaRPr lang="en-US" sz="1390" dirty="0"/>
          </a:p>
        </p:txBody>
      </p:sp>
      <p:sp>
        <p:nvSpPr>
          <p:cNvPr id="18" name="Text 16"/>
          <p:cNvSpPr/>
          <p:nvPr/>
        </p:nvSpPr>
        <p:spPr>
          <a:xfrm>
            <a:off x="9400032" y="175564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64748B"/>
                </a:solidFill>
              </a:rPr>
              <a:t>Écriture standard :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64748B"/>
                </a:solidFill>
              </a:rPr>
              <a:t>l’adaptateur n’a rien à corriger.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13232" y="4069080"/>
            <a:ext cx="1481328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4  ILIAS ouvre Ranking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demande /aggregate</a:t>
            </a:r>
            <a:endParaRPr lang="en-US" sz="1390" dirty="0"/>
          </a:p>
        </p:txBody>
      </p:sp>
      <p:sp>
        <p:nvSpPr>
          <p:cNvPr id="20" name="Text 18"/>
          <p:cNvSpPr/>
          <p:nvPr/>
        </p:nvSpPr>
        <p:spPr>
          <a:xfrm>
            <a:off x="2542032" y="4069080"/>
            <a:ext cx="14813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5  Apache AliasMatch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reconnaît /stores/api/...</a:t>
            </a:r>
            <a:endParaRPr lang="en-US" sz="1390" dirty="0"/>
          </a:p>
        </p:txBody>
      </p:sp>
      <p:sp>
        <p:nvSpPr>
          <p:cNvPr id="21" name="Text 19"/>
          <p:cNvSpPr/>
          <p:nvPr/>
        </p:nvSpPr>
        <p:spPr>
          <a:xfrm>
            <a:off x="4370832" y="4069080"/>
            <a:ext cx="1481328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6  Adaptateur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client ppm → store ppm</a:t>
            </a:r>
            <a:endParaRPr lang="en-US" sz="1390" dirty="0"/>
          </a:p>
        </p:txBody>
      </p:sp>
      <p:sp>
        <p:nvSpPr>
          <p:cNvPr id="22" name="Text 20"/>
          <p:cNvSpPr/>
          <p:nvPr/>
        </p:nvSpPr>
        <p:spPr>
          <a:xfrm>
            <a:off x="6199632" y="4069080"/>
            <a:ext cx="1481328" cy="1170432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7  Trax calcule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score, date et durée</a:t>
            </a:r>
            <a:endParaRPr lang="en-US" sz="1390" dirty="0"/>
          </a:p>
        </p:txBody>
      </p:sp>
      <p:sp>
        <p:nvSpPr>
          <p:cNvPr id="23" name="Text 21"/>
          <p:cNvSpPr/>
          <p:nvPr/>
        </p:nvSpPr>
        <p:spPr>
          <a:xfrm>
            <a:off x="8028432" y="4069080"/>
            <a:ext cx="1481328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8  Adaptateur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normalise la réponse</a:t>
            </a:r>
            <a:endParaRPr lang="en-US" sz="1390" dirty="0"/>
          </a:p>
        </p:txBody>
      </p:sp>
      <p:sp>
        <p:nvSpPr>
          <p:cNvPr id="24" name="Text 22"/>
          <p:cNvSpPr/>
          <p:nvPr/>
        </p:nvSpPr>
        <p:spPr>
          <a:xfrm>
            <a:off x="9857232" y="4069080"/>
            <a:ext cx="1481328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90" b="1" dirty="0">
                <a:solidFill>
                  <a:srgbClr val="0B1F33"/>
                </a:solidFill>
              </a:rPr>
              <a:t>9  ILIAS affiche</a:t>
            </a:r>
            <a:endParaRPr lang="en-US" sz="1390" dirty="0"/>
          </a:p>
          <a:p>
            <a:pPr marL="0" indent="0">
              <a:buNone/>
            </a:pPr>
            <a:r>
              <a:rPr lang="en-US" sz="1090" dirty="0">
                <a:solidFill>
                  <a:srgbClr val="334155"/>
                </a:solidFill>
              </a:rPr>
              <a:t>le classement utilisateur</a:t>
            </a:r>
            <a:endParaRPr lang="en-US" sz="1390" dirty="0"/>
          </a:p>
        </p:txBody>
      </p:sp>
      <p:sp>
        <p:nvSpPr>
          <p:cNvPr id="25" name="Text 23"/>
          <p:cNvSpPr/>
          <p:nvPr/>
        </p:nvSpPr>
        <p:spPr>
          <a:xfrm>
            <a:off x="960120" y="5870448"/>
            <a:ext cx="10241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30" dirty="0">
                <a:solidFill>
                  <a:srgbClr val="64748B"/>
                </a:solidFill>
              </a:rPr>
              <a:t>À retenir : l’adaptateur n’est pas une base de données. Il agit au passage de la requête Ranking, puis renvoie à ILIAS une réponse prête à afficher.</a:t>
            </a:r>
            <a:endParaRPr lang="en-US" sz="153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ZOOM SUR LE RANKING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Exemple concret : une URL que l’adaptateur corrige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170432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4155"/>
                </a:solidFill>
              </a:rPr>
              <a:t>ILIAS peut demander une agrégation avec un chemin où le nom du store est absent.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07492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Requête reçue</a:t>
            </a:r>
            <a:endParaRPr lang="en-US" sz="170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</a:rPr>
              <a:t>/clients/ppm/stores/api/statements/aggregate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16752" y="2395728"/>
            <a:ext cx="795528" cy="0"/>
          </a:xfrm>
          <a:prstGeom prst="line">
            <a:avLst/>
          </a:prstGeom>
          <a:noFill/>
          <a:ln w="279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949440" y="1874520"/>
            <a:ext cx="443484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Correction</a:t>
            </a:r>
            <a:endParaRPr lang="en-US" sz="170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</a:rPr>
              <a:t>client ppm → store ppm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493008"/>
            <a:ext cx="5074920" cy="10515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Requête transmise</a:t>
            </a:r>
            <a:endParaRPr lang="en-US" sz="170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</a:rPr>
              <a:t>/clients/ppm/stores/ppm/api/statements/aggregate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16752" y="4023360"/>
            <a:ext cx="795528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49440" y="3493008"/>
            <a:ext cx="4434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Réponse pour ILIAS</a:t>
            </a:r>
            <a:endParaRPr lang="en-US" sz="170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</a:rPr>
              <a:t>account + score + timestamp + duration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5321808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3"/>
                </a:solidFill>
              </a:rPr>
              <a:t>La version 2.0.5 accepte aussi les scores numériques, par exemple score = 0,92.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COMPORTEMENT ATTENDU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Et si d’autres sources xAPI écrivent dans Trax 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2148840" cy="914400"/>
          </a:xfrm>
          <a:prstGeom prst="rect">
            <a:avLst/>
          </a:prstGeom>
          <a:solidFill>
            <a:srgbClr val="E0F2FE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ILIAS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source 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2148840" cy="914400"/>
          </a:xfrm>
          <a:prstGeom prst="rect">
            <a:avLst/>
          </a:prstGeom>
          <a:solidFill>
            <a:srgbClr val="FFEDD5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Autre outil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source 2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800600" y="2697480"/>
            <a:ext cx="2148840" cy="1097280"/>
          </a:xfrm>
          <a:prstGeom prst="rect">
            <a:avLst/>
          </a:prstGeom>
          <a:solidFill>
            <a:srgbClr val="DCFCE7"/>
          </a:solidFill>
          <a:ln w="13970">
            <a:solidFill>
              <a:srgbClr val="B6C7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Trax LRS</a:t>
            </a:r>
            <a:endParaRPr lang="en-US" sz="155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334155"/>
                </a:solidFill>
              </a:rPr>
              <a:t>stores xAPI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063240" y="2331720"/>
            <a:ext cx="1600200" cy="73152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63240" y="3566160"/>
            <a:ext cx="1600200" cy="54864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452360" y="1600200"/>
            <a:ext cx="38404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Transparent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Les écritures xAPI standards ne sont pas modifiées.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52360" y="2880360"/>
            <a:ext cx="3840480" cy="914400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Attention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Si deux sources partagent le même store, les agrégations peuvent mélanger les résultats.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52360" y="4160520"/>
            <a:ext cx="3840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Bonne pratique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Séparer les usages par client, store ou object.id distinct.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5595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3"/>
                </a:solidFill>
              </a:rPr>
              <a:t>L’adaptateur ne devine pas l’origine métier d’une trace : il s’appuie sur les routes, les stores et les filtres.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</a:rPr>
              <a:t>SYNTHÈSE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À retenir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291840" cy="29718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Fiabilise</a:t>
            </a:r>
            <a:endParaRPr lang="en-US" sz="22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Les échanges ILIAS ↔ Trax pour les cas sensibles : lancement, state API et ranking.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34840" y="1417320"/>
            <a:ext cx="32918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Reste discret</a:t>
            </a:r>
            <a:endParaRPr lang="en-US" sz="22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Il intervient seulement sur les routes ciblées. Trax reste la source des données.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38160" y="1417320"/>
            <a:ext cx="3291840" cy="29718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Simplifie</a:t>
            </a:r>
            <a:endParaRPr lang="en-US" sz="22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Pas besoin de modifier lourdement ILIAS ou Trax pour corriger ces écarts.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" y="516636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3"/>
                </a:solidFill>
              </a:rPr>
              <a:t>Version 2.0.5 : correction validée du Ranking avec scores numériques.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1519</Words>
  <Application>Microsoft Office PowerPoint</Application>
  <PresentationFormat>Grand écran</PresentationFormat>
  <Paragraphs>251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Aptos Mono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Adaptateur Trax ILIAS Bridge 2.0.5</dc:title>
  <dc:subject>Présentation de l’adaptateur Trax ILIAS Bridge</dc:subject>
  <dc:creator>OpenAI</dc:creator>
  <cp:lastModifiedBy>adm_v.sayah</cp:lastModifiedBy>
  <cp:revision>3</cp:revision>
  <dcterms:created xsi:type="dcterms:W3CDTF">2026-06-18T06:28:48Z</dcterms:created>
  <dcterms:modified xsi:type="dcterms:W3CDTF">2026-06-18T06:39:56Z</dcterms:modified>
</cp:coreProperties>
</file>